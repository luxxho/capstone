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Playfair Display"/>
      <p:regular r:id="rId26"/>
      <p:bold r:id="rId27"/>
      <p:italic r:id="rId28"/>
      <p:boldItalic r:id="rId29"/>
    </p:embeddedFont>
    <p:embeddedFont>
      <p:font typeface="Amatic SC"/>
      <p:regular r:id="rId30"/>
      <p:bold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Y/G0kBSc/0durCQZmPDjF61L2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2BE8F6-8153-4FCF-8D6C-39F25375BA5F}">
  <a:tblStyle styleId="{992BE8F6-8153-4FCF-8D6C-39F25375BA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6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maticSC-bold.fntdata"/><Relationship Id="rId30" Type="http://schemas.openxmlformats.org/officeDocument/2006/relationships/font" Target="fonts/AmaticSC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c613693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8c613693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c613693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c613693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c6136932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8c613693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c4010f7f_0_4"/>
          <p:cNvSpPr/>
          <p:nvPr/>
        </p:nvSpPr>
        <p:spPr>
          <a:xfrm>
            <a:off x="3274200" y="679950"/>
            <a:ext cx="5643600" cy="5498100"/>
          </a:xfrm>
          <a:prstGeom prst="rect">
            <a:avLst/>
          </a:prstGeom>
          <a:solidFill>
            <a:srgbClr val="85A6AF"/>
          </a:solidFill>
          <a:ln>
            <a:noFill/>
          </a:ln>
        </p:spPr>
        <p:txBody>
          <a:bodyPr anchorCtr="0" anchor="ctr" bIns="130025" lIns="130025" spcFirstLastPara="1" rIns="130025" wrap="square" tIns="13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3"/>
          </a:p>
        </p:txBody>
      </p:sp>
      <p:sp>
        <p:nvSpPr>
          <p:cNvPr id="11" name="Google Shape;11;g3f8c4010f7f_0_4"/>
          <p:cNvSpPr/>
          <p:nvPr/>
        </p:nvSpPr>
        <p:spPr>
          <a:xfrm>
            <a:off x="3658357" y="996108"/>
            <a:ext cx="4875300" cy="4866000"/>
          </a:xfrm>
          <a:prstGeom prst="rect">
            <a:avLst/>
          </a:prstGeom>
          <a:noFill/>
          <a:ln cap="flat" cmpd="sng" w="406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30025" lIns="130025" spcFirstLastPara="1" rIns="130025" wrap="square" tIns="13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3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" name="Google Shape;12;g3f8c4010f7f_0_4"/>
          <p:cNvSpPr txBox="1"/>
          <p:nvPr>
            <p:ph type="ctrTitle"/>
          </p:nvPr>
        </p:nvSpPr>
        <p:spPr>
          <a:xfrm>
            <a:off x="3751823" y="1264292"/>
            <a:ext cx="4715400" cy="3040800"/>
          </a:xfrm>
          <a:prstGeom prst="rect">
            <a:avLst/>
          </a:prstGeom>
        </p:spPr>
        <p:txBody>
          <a:bodyPr anchorCtr="0" anchor="ctr" bIns="97525" lIns="97525" spcFirstLastPara="1" rIns="97525" wrap="square" tIns="97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87"/>
              <a:buFont typeface="Amatic SC"/>
              <a:buNone/>
              <a:defRPr sz="4587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13" name="Google Shape;13;g3f8c4010f7f_0_4"/>
          <p:cNvSpPr txBox="1"/>
          <p:nvPr>
            <p:ph idx="1" type="subTitle"/>
          </p:nvPr>
        </p:nvSpPr>
        <p:spPr>
          <a:xfrm>
            <a:off x="3751823" y="4574295"/>
            <a:ext cx="4715400" cy="997500"/>
          </a:xfrm>
          <a:prstGeom prst="rect">
            <a:avLst/>
          </a:prstGeom>
        </p:spPr>
        <p:txBody>
          <a:bodyPr anchorCtr="0" anchor="b" bIns="97525" lIns="97525" spcFirstLastPara="1" rIns="97525" wrap="square" tIns="97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60"/>
              <a:buFont typeface="Playfair Display"/>
              <a:buNone/>
              <a:defRPr b="1" sz="256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g3f8c4010f7f_0_4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85A6A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c4010f7f_0_10"/>
          <p:cNvSpPr txBox="1"/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g3f8c4010f7f_0_1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8c4010f7f_0_13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f8c4010f7f_0_13"/>
          <p:cNvSpPr txBox="1"/>
          <p:nvPr>
            <p:ph type="title"/>
          </p:nvPr>
        </p:nvSpPr>
        <p:spPr>
          <a:xfrm>
            <a:off x="0" y="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1" name="Google Shape;21;g3f8c4010f7f_0_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g3f8c4010f7f_0_1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8c4010f7f_0_18"/>
          <p:cNvSpPr txBox="1"/>
          <p:nvPr>
            <p:ph type="title"/>
          </p:nvPr>
        </p:nvSpPr>
        <p:spPr>
          <a:xfrm>
            <a:off x="0" y="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5" name="Google Shape;25;g3f8c4010f7f_0_1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g3f8c4010f7f_0_1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f8c4010f7f_0_1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4010f7f_0_23"/>
          <p:cNvSpPr txBox="1"/>
          <p:nvPr>
            <p:ph type="title"/>
          </p:nvPr>
        </p:nvSpPr>
        <p:spPr>
          <a:xfrm>
            <a:off x="0" y="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Font typeface="Economica"/>
              <a:buNone/>
              <a:defRPr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30" name="Google Shape;30;g3f8c4010f7f_0_2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8c4010f7f_0_2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g3f8c4010f7f_0_26"/>
          <p:cNvSpPr txBox="1"/>
          <p:nvPr>
            <p:ph idx="1" type="body"/>
          </p:nvPr>
        </p:nvSpPr>
        <p:spPr>
          <a:xfrm>
            <a:off x="415600" y="185517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f8c4010f7f_0_26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8c4010f7f_0_30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g3f8c4010f7f_0_3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8c4010f7f_0_33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g3f8c4010f7f_0_33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g3f8c4010f7f_0_33"/>
          <p:cNvSpPr txBox="1"/>
          <p:nvPr>
            <p:ph type="title"/>
          </p:nvPr>
        </p:nvSpPr>
        <p:spPr>
          <a:xfrm>
            <a:off x="354000" y="1477267"/>
            <a:ext cx="5393700" cy="2244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f8c4010f7f_0_33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f8c4010f7f_0_33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g3f8c4010f7f_0_3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8c4010f7f_0_4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f8c4010f7f_0_4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8c4010f7f_0_43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4010f7f_0_43"/>
          <p:cNvSpPr txBox="1"/>
          <p:nvPr>
            <p:ph hasCustomPrompt="1" type="title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g3f8c4010f7f_0_43"/>
          <p:cNvSpPr txBox="1"/>
          <p:nvPr>
            <p:ph idx="1" type="body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f8c4010f7f_0_4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c4010f7f_0_4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8c4010f7f_0_0"/>
          <p:cNvSpPr txBox="1"/>
          <p:nvPr>
            <p:ph type="title"/>
          </p:nvPr>
        </p:nvSpPr>
        <p:spPr>
          <a:xfrm>
            <a:off x="0" y="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g3f8c4010f7f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8c4010f7f_0_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Ek7W8FmFHmTXuyYCip66B3yKEeZznSeo/edit" TargetMode="External"/><Relationship Id="rId4" Type="http://schemas.openxmlformats.org/officeDocument/2006/relationships/hyperlink" Target="https://docs.google.com/spreadsheets/d/1BMaJNGxAK7juNklJI25aIkrIBNPl0w3F/edit?gid=1779428362#gid=1779428362" TargetMode="External"/><Relationship Id="rId5" Type="http://schemas.openxmlformats.org/officeDocument/2006/relationships/hyperlink" Target="https://docs.google.com/document/d/1dQ22HS0iPH4gTwOxO3Pd6toK3UGj63hZ/edit" TargetMode="External"/><Relationship Id="rId6" Type="http://schemas.openxmlformats.org/officeDocument/2006/relationships/hyperlink" Target="https://docs.google.com/spreadsheets/d/1V5lA20pJs8m5ww8sm-hR0Ryk1mnXEeL-/edit?gid=1351181893#gid=1351181893" TargetMode="External"/><Relationship Id="rId7" Type="http://schemas.openxmlformats.org/officeDocument/2006/relationships/hyperlink" Target="https://docs.google.com/spreadsheets/d/1qwJ4vpJu7GDmcUFgzmwtamGh1quAfw-5/edit?gid=1562700785#gid=1562700785" TargetMode="External"/><Relationship Id="rId8" Type="http://schemas.openxmlformats.org/officeDocument/2006/relationships/hyperlink" Target="https://drive.google.com/open?id=1AHxpAiHgxj9-zmcTCAx2cf-KvPiUl6Tc&amp;usp=drive_co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"/>
          <p:cNvSpPr txBox="1"/>
          <p:nvPr>
            <p:ph type="ctrTitle"/>
          </p:nvPr>
        </p:nvSpPr>
        <p:spPr>
          <a:xfrm>
            <a:off x="3751825" y="1264298"/>
            <a:ext cx="4715400" cy="2245500"/>
          </a:xfrm>
          <a:prstGeom prst="rect">
            <a:avLst/>
          </a:prstGeom>
          <a:solidFill>
            <a:srgbClr val="85A6AF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</a:t>
            </a:r>
            <a:r>
              <a:rPr lang="es-CL" sz="4000"/>
              <a:t>Vetmap</a:t>
            </a:r>
            <a:r>
              <a:rPr lang="es-CL" sz="3200"/>
              <a:t>”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738300" y="4309978"/>
            <a:ext cx="4715400" cy="1523400"/>
          </a:xfrm>
          <a:prstGeom prst="rect">
            <a:avLst/>
          </a:prstGeom>
          <a:solidFill>
            <a:srgbClr val="85A6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Duoc uc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62" name="Google Shape;62;p1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555827" y="2315666"/>
            <a:ext cx="2993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8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INTEGRANTES DEL PROYECTO</a:t>
            </a:r>
            <a:endParaRPr b="1" i="0" sz="3800" u="none" cap="none" strike="noStrik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950200" y="1382425"/>
            <a:ext cx="6913925" cy="1067494"/>
          </a:xfrm>
          <a:prstGeom prst="roundRect">
            <a:avLst>
              <a:gd fmla="val 10000" name="adj"/>
            </a:avLst>
          </a:prstGeom>
          <a:solidFill>
            <a:srgbClr val="9AB4EC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4038700" y="1439225"/>
            <a:ext cx="6737100" cy="954000"/>
          </a:xfrm>
          <a:prstGeom prst="rect">
            <a:avLst/>
          </a:prstGeom>
          <a:solidFill>
            <a:srgbClr val="9AB4EC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Javier Rodriguez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 Programador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Analizar los requerimientos y desarrollar la lógica, la API y las interfaces del sistema</a:t>
            </a: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950200" y="2556668"/>
            <a:ext cx="6913925" cy="1067494"/>
          </a:xfrm>
          <a:prstGeom prst="roundRect">
            <a:avLst>
              <a:gd fmla="val 10000" name="adj"/>
            </a:avLst>
          </a:prstGeom>
          <a:solidFill>
            <a:srgbClr val="9AB4EC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4038725" y="2613474"/>
            <a:ext cx="6737100" cy="954000"/>
          </a:xfrm>
          <a:prstGeom prst="rect">
            <a:avLst/>
          </a:prstGeom>
          <a:solidFill>
            <a:srgbClr val="9AB4EC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Martin Guerrero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Desarrollador BD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Funciones desempeñadas: Diseñar, implementar y mantener la base de datos del sistema. 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950200" y="3730912"/>
            <a:ext cx="6913925" cy="1067494"/>
          </a:xfrm>
          <a:prstGeom prst="roundRect">
            <a:avLst>
              <a:gd fmla="val 10000" name="adj"/>
            </a:avLst>
          </a:prstGeom>
          <a:solidFill>
            <a:srgbClr val="9AB4EC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4038600" y="3787725"/>
            <a:ext cx="6737100" cy="954000"/>
          </a:xfrm>
          <a:prstGeom prst="rect">
            <a:avLst/>
          </a:prstGeom>
          <a:solidFill>
            <a:srgbClr val="9AB4EC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Allison Rubio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s-CL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lidad y testing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Diseñar y ejecutar pruebas, y registrar el seguimiento de incidencias detectadas. 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950200" y="4905155"/>
            <a:ext cx="6913925" cy="1067494"/>
          </a:xfrm>
          <a:prstGeom prst="roundRect">
            <a:avLst>
              <a:gd fmla="val 10000" name="adj"/>
            </a:avLst>
          </a:prstGeom>
          <a:solidFill>
            <a:srgbClr val="9AB4EC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4038600" y="4961825"/>
            <a:ext cx="6737100" cy="954000"/>
          </a:xfrm>
          <a:prstGeom prst="rect">
            <a:avLst/>
          </a:prstGeom>
          <a:solidFill>
            <a:srgbClr val="9AB4EC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Sebastian Rojas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Diseñador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Diseñar los wireframes, prototipos e identidad visual de la plataforma y documentacion. 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950325" y="208175"/>
            <a:ext cx="6913800" cy="1067400"/>
          </a:xfrm>
          <a:prstGeom prst="roundRect">
            <a:avLst>
              <a:gd fmla="val 10000" name="adj"/>
            </a:avLst>
          </a:prstGeom>
          <a:solidFill>
            <a:srgbClr val="9AB4EC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4038600" y="264975"/>
            <a:ext cx="6737100" cy="954000"/>
          </a:xfrm>
          <a:prstGeom prst="rect">
            <a:avLst/>
          </a:prstGeom>
          <a:solidFill>
            <a:srgbClr val="9AB4EC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Luis Gonzalez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Jefe de Proyecto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CL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Planificar, coordinar y dar seguimiento al proyecto, y ser el contacto con el docente guía. 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3"/>
          <p:cNvSpPr txBox="1"/>
          <p:nvPr>
            <p:ph type="title"/>
          </p:nvPr>
        </p:nvSpPr>
        <p:spPr>
          <a:xfrm>
            <a:off x="9" y="-12"/>
            <a:ext cx="10515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Descripción del Proyecto</a:t>
            </a:r>
            <a:endParaRPr sz="3800"/>
          </a:p>
        </p:txBody>
      </p:sp>
      <p:sp>
        <p:nvSpPr>
          <p:cNvPr id="86" name="Google Shape;86;p3"/>
          <p:cNvSpPr/>
          <p:nvPr/>
        </p:nvSpPr>
        <p:spPr>
          <a:xfrm>
            <a:off x="271675" y="718200"/>
            <a:ext cx="5132400" cy="554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Hoy, para cuidar a una mascota, su dueño tiene que usar muchas apps y páginas distintas: una para comprar alimento, otra para comparar precios, otra para anotar las vacunas, otra para pedir hora al veterinario. Todo está separado y es difícil llevar un orden.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tiendas de productos para mascotas también tienen problemas para mantener al día sus precios y stock, y cuando despachan un pedido no siempre saben si llegó a tiempo, si el repartidor se desvió del camino, o si realmente se entregó.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clínicas veterinarias, por su parte, guardan la información de cada paciente en sistemas distintos o en papel, por lo que es difícil tener un historial completo de la mascota.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1100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resumen: la información y los servicios están todos separados, y eso hace más difícil cuidar bien a una mascota.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187400" y="718200"/>
            <a:ext cx="4641300" cy="554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</a:t>
            </a: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VetMap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una plataforma tecnológica integral compuesta por: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 para dueños de mascotas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para tiendas veterinarias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para clínicas veterinarias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gestión de repartidores y despachos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administrativo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VetMap centraliza la información de mascotas, productos, establecimientos, atención veterinaria y despachos, e incorpora un comparador de productos, historial y alertas de precio, y un sistema de detección de patrones (por ejemplo, variaciones de peso) que genera alertas preventivas, sin reemplazar el diagnóstico del profesional veterinario.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666153" y="3111758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0" y="1003050"/>
            <a:ext cx="4005300" cy="545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tecnológica integral que permita centralizar la gestión de mascotas, facilitar el acceso y comparación de productos veterinarios, conectar a usuarios con establecimientos veterinarios y mejorar la trazabilidad de los despachos, incorporando mecanismos de análisis y alertas preventivas basados en la información registrada.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225525" y="677100"/>
            <a:ext cx="7966500" cy="611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Centralizar la información de las mascotas registradas por los usuarios.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registrar antecedentes, vacunas, medicamentos, peso y controles veterinarios.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la búsqueda y comparación de productos veterinarios entre tiendas.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precios y disponibilidad de productos.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históricos de precios de productos.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configurar alertas de precio personalizadas.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la búsqueda de clínicas y tiendas veterinarias cercanas.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a las clínicas gestionar fichas médicas y atenciones veterinarias.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pedidos y despachos de las tiendas asociadas.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rutas planificadas y posibles desviaciones en los despachos.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evidencia fotográfica en las entregas.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de operación (productos, mascotas, veterinarias, despachos).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detección de patrones y alertas preventivas.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trazabilidad de los procesos relacionados con mascotas y despachos.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0" y="0"/>
            <a:ext cx="31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8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Objetivo General</a:t>
            </a:r>
            <a:endParaRPr b="1" i="0" sz="3800" u="none" cap="none" strike="noStrik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7259775" y="-17000"/>
            <a:ext cx="440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8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Objetivos Específicos</a:t>
            </a:r>
            <a:endParaRPr b="1" i="0" sz="3800" u="none" cap="none" strike="noStrik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5"/>
          <p:cNvSpPr txBox="1"/>
          <p:nvPr>
            <p:ph type="title"/>
          </p:nvPr>
        </p:nvSpPr>
        <p:spPr>
          <a:xfrm>
            <a:off x="-10" y="-3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Alcances</a:t>
            </a:r>
            <a:endParaRPr sz="3800"/>
          </a:p>
        </p:txBody>
      </p:sp>
      <p:sp>
        <p:nvSpPr>
          <p:cNvPr id="106" name="Google Shape;106;p5"/>
          <p:cNvSpPr/>
          <p:nvPr/>
        </p:nvSpPr>
        <p:spPr>
          <a:xfrm>
            <a:off x="913200" y="1031573"/>
            <a:ext cx="10365600" cy="54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Guardar el perfil y la información médica de cada mascota.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precios y ver disponibilidad de productos entre tiendas.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Avisar cuando baja el precio de un producto.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Ayudar a encontrar tiendas y clínicas cercanas.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Dejar que las clínicas manejen las fichas de sus pacientes y agenden horas.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seguimiento a los pedidos y despachos, con foto de entrega.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reportes básicos a los administradores.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Avisar (no diagnosticar) cuando algo cambia de forma importante en los registros de la mascota.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cobra ni procesa pagos: la compra se termina en la tienda directamente.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da diagnósticos médicos, eso lo sigue haciendo el veterinario.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maneja la bodega ni el inventario interno de las tiendas.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emite boletas ni facturas.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ofrece videollamadas ni consultas por chat con veterinarios.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contrata ni paga a los repartidores, solo sigue el estado de la entrega.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1216700" y="27742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6"/>
          <p:cNvSpPr txBox="1"/>
          <p:nvPr>
            <p:ph type="title"/>
          </p:nvPr>
        </p:nvSpPr>
        <p:spPr>
          <a:xfrm>
            <a:off x="-9" y="-8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Usuarios</a:t>
            </a:r>
            <a:endParaRPr sz="3800"/>
          </a:p>
        </p:txBody>
      </p:sp>
      <p:sp>
        <p:nvSpPr>
          <p:cNvPr id="114" name="Google Shape;114;p6"/>
          <p:cNvSpPr/>
          <p:nvPr/>
        </p:nvSpPr>
        <p:spPr>
          <a:xfrm>
            <a:off x="913225" y="855377"/>
            <a:ext cx="10365600" cy="541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Dueño de mascota: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 la app móvil para registrar mascotas, comparar productos, agendar horas y recibir alertas.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Tienda veterinaria: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 la plataforma web para administrar catálogo, precios, stock, pedidos y despachos.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veterinaria: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 la plataforma web para gestionar pacientes, fichas médicas, consultas y horas.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Repartidor: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 el módulo de despachos para gestionar rutas, estados de entrega y evidencia fotográfica.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del sistema: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 el panel administrativo para supervisar usuarios, establecimientos, pedidos, incidencias y reportes.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216700" y="295650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7"/>
          <p:cNvSpPr txBox="1"/>
          <p:nvPr>
            <p:ph type="title"/>
          </p:nvPr>
        </p:nvSpPr>
        <p:spPr>
          <a:xfrm>
            <a:off x="-9" y="-8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Lista de Requerimientos</a:t>
            </a:r>
            <a:endParaRPr sz="3800"/>
          </a:p>
        </p:txBody>
      </p:sp>
      <p:graphicFrame>
        <p:nvGraphicFramePr>
          <p:cNvPr id="122" name="Google Shape;122;p7"/>
          <p:cNvGraphicFramePr/>
          <p:nvPr/>
        </p:nvGraphicFramePr>
        <p:xfrm>
          <a:off x="-4775" y="210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504825"/>
                <a:gridCol w="1781175"/>
                <a:gridCol w="1562100"/>
                <a:gridCol w="1800225"/>
                <a:gridCol w="4800600"/>
                <a:gridCol w="876300"/>
                <a:gridCol w="876300"/>
              </a:tblGrid>
              <a:tr h="75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[R-N°]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[Nombre del Requerimiento]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Requerimiento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[Funcional, No Funcional]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Actores Usuarios Relacionados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[Descripción corta del requerimiento]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Usuario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173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solidFill>
                          <a:srgbClr val="1173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Móvil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Permitir al dueño de mascota crear una cuenta en la plataforma.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>
                        <a:solidFill>
                          <a:srgbClr val="B1020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Mascota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173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solidFill>
                          <a:srgbClr val="1173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Móvil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nombre, fotografía, especie, raza, fecha de nacimiento/edad y peso de la mascota.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>
                        <a:solidFill>
                          <a:srgbClr val="B1020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" name="Google Shape;123;p7"/>
          <p:cNvGraphicFramePr/>
          <p:nvPr/>
        </p:nvGraphicFramePr>
        <p:xfrm>
          <a:off x="-4762" y="381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504825"/>
                <a:gridCol w="1781175"/>
                <a:gridCol w="1562100"/>
                <a:gridCol w="1800225"/>
                <a:gridCol w="4800600"/>
                <a:gridCol w="876300"/>
                <a:gridCol w="876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 e Integridad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solidFill>
                          <a:srgbClr val="4738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Proteger los historiales médicos y datos personales de dueños y clínicas.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Sugerido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>
                        <a:solidFill>
                          <a:srgbClr val="B1020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R.39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Centralización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solidFill>
                          <a:srgbClr val="4738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 la información operativa y logística debe quedar asociada centralmente al pedido o mascota.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Sugerido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>
                        <a:solidFill>
                          <a:srgbClr val="B1020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7"/>
          <p:cNvSpPr/>
          <p:nvPr/>
        </p:nvSpPr>
        <p:spPr>
          <a:xfrm>
            <a:off x="11216700" y="26262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9"/>
          <p:cNvSpPr txBox="1"/>
          <p:nvPr>
            <p:ph type="title"/>
          </p:nvPr>
        </p:nvSpPr>
        <p:spPr>
          <a:xfrm>
            <a:off x="0" y="-3"/>
            <a:ext cx="10515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Mockups del Sistema</a:t>
            </a:r>
            <a:endParaRPr sz="3800"/>
          </a:p>
        </p:txBody>
      </p:sp>
      <p:pic>
        <p:nvPicPr>
          <p:cNvPr descr="C:\Users\Gammer\AppData\Local\Microsoft\Windows\INetCache\Content.Word\Free Website Wireframe (Community) (Copy).png" id="132" name="Google Shape;132;p9"/>
          <p:cNvPicPr preferRelativeResize="0"/>
          <p:nvPr/>
        </p:nvPicPr>
        <p:blipFill rotWithShape="1">
          <a:blip r:embed="rId3">
            <a:alphaModFix/>
          </a:blip>
          <a:srcRect b="48489" l="33280" r="37117" t="1549"/>
          <a:stretch/>
        </p:blipFill>
        <p:spPr>
          <a:xfrm>
            <a:off x="1241868" y="1015500"/>
            <a:ext cx="3247958" cy="573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2591" y="1355951"/>
            <a:ext cx="2487109" cy="53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/>
        </p:nvSpPr>
        <p:spPr>
          <a:xfrm>
            <a:off x="2100688" y="646188"/>
            <a:ext cx="15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Pagina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8561012" y="646188"/>
            <a:ext cx="15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Pagina App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8"/>
          <p:cNvSpPr txBox="1"/>
          <p:nvPr>
            <p:ph type="title"/>
          </p:nvPr>
        </p:nvSpPr>
        <p:spPr>
          <a:xfrm>
            <a:off x="0" y="-3"/>
            <a:ext cx="10515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Mockups del Sistema</a:t>
            </a:r>
            <a:endParaRPr sz="3800"/>
          </a:p>
        </p:txBody>
      </p:sp>
      <p:sp>
        <p:nvSpPr>
          <p:cNvPr id="143" name="Google Shape;143;p8"/>
          <p:cNvSpPr txBox="1"/>
          <p:nvPr/>
        </p:nvSpPr>
        <p:spPr>
          <a:xfrm>
            <a:off x="3714675" y="488600"/>
            <a:ext cx="13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Pagina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900"/>
            <a:ext cx="50196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8337" y="3602675"/>
            <a:ext cx="49911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0663" y="857900"/>
            <a:ext cx="25717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663" y="3602675"/>
            <a:ext cx="1304925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9224050" y="488600"/>
            <a:ext cx="13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Pagina App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c6136932_0_85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g3f8c6136932_0_85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g3f8c6136932_0_85"/>
          <p:cNvSpPr txBox="1"/>
          <p:nvPr>
            <p:ph type="title"/>
          </p:nvPr>
        </p:nvSpPr>
        <p:spPr>
          <a:xfrm>
            <a:off x="0" y="-3"/>
            <a:ext cx="10515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800"/>
              <a:t>Mockups del Sistema</a:t>
            </a:r>
            <a:endParaRPr sz="3800"/>
          </a:p>
        </p:txBody>
      </p:sp>
      <p:pic>
        <p:nvPicPr>
          <p:cNvPr id="156" name="Google Shape;156;g3f8c6136932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6200"/>
            <a:ext cx="4692408" cy="32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8c6136932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950" y="646200"/>
            <a:ext cx="5860050" cy="30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f8c6136932_0_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8800" y="3918375"/>
            <a:ext cx="4798005" cy="29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2" y="1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326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66" name="Google Shape;166;p10"/>
          <p:cNvGraphicFramePr/>
          <p:nvPr/>
        </p:nvGraphicFramePr>
        <p:xfrm>
          <a:off x="1708434" y="2026463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B4EC"/>
                    </a:gs>
                    <a:gs pos="50000">
                      <a:srgbClr val="8DA8E2"/>
                    </a:gs>
                    <a:gs pos="100000">
                      <a:srgbClr val="789BE3"/>
                    </a:gs>
                  </a:gsLst>
                  <a:lin ang="5400000" scaled="0"/>
                </a:gradFill>
                <a:tableStyleId>{992BE8F6-8153-4FCF-8D6C-39F25375BA5F}</a:tableStyleId>
              </a:tblPr>
              <a:tblGrid>
                <a:gridCol w="3519250"/>
                <a:gridCol w="4710825"/>
              </a:tblGrid>
              <a:tr h="42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Nombre Fase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Fechas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Fase planificacion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10 - 28 Agosto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Fase Diseño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29 agosto - 21 Septiembre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Fase Desarrollo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22 Septiembre - 28 Marzo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Fase Pruebas QA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29 Marzo - 14 Abril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Fase Cierre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solidFill>
                            <a:schemeClr val="lt1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15 Abril - 6 Mayo</a:t>
                      </a:r>
                      <a:endParaRPr b="1" sz="2400" u="none" cap="none" strike="noStrike">
                        <a:solidFill>
                          <a:schemeClr val="lt1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1A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1"/>
          <p:cNvSpPr txBox="1"/>
          <p:nvPr>
            <p:ph type="title"/>
          </p:nvPr>
        </p:nvSpPr>
        <p:spPr>
          <a:xfrm>
            <a:off x="-8" y="-3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326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74" name="Google Shape;174;p11"/>
          <p:cNvGraphicFramePr/>
          <p:nvPr/>
        </p:nvGraphicFramePr>
        <p:xfrm>
          <a:off x="0" y="74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419100"/>
                <a:gridCol w="1390650"/>
                <a:gridCol w="1390650"/>
                <a:gridCol w="704850"/>
                <a:gridCol w="485775"/>
                <a:gridCol w="1571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SIGLA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HORA HH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PLANIFICACION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4:0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1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$ 352.320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2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3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4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5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6:0"/>
                      </a:ext>
                    </a:extLst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FASE PLANIFICACION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6:1"/>
                      </a:ext>
                    </a:extLst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$ 514.820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4:6:5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75" name="Google Shape;175;p11"/>
          <p:cNvGraphicFramePr/>
          <p:nvPr/>
        </p:nvGraphicFramePr>
        <p:xfrm>
          <a:off x="6229350" y="74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419100"/>
                <a:gridCol w="1390650"/>
                <a:gridCol w="1390650"/>
                <a:gridCol w="704850"/>
                <a:gridCol w="485775"/>
                <a:gridCol w="1571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SIGLA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HORA HH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DISEÑO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5:0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$ 325.000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1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$ 543.160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2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3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4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$ 506.640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5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6:0"/>
                      </a:ext>
                    </a:extLst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FASE DISEÑO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6:1"/>
                      </a:ext>
                    </a:extLst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$ 1.374.800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5:6:5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76" name="Google Shape;176;p11"/>
          <p:cNvGraphicFramePr/>
          <p:nvPr/>
        </p:nvGraphicFramePr>
        <p:xfrm>
          <a:off x="0" y="403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419100"/>
                <a:gridCol w="1390650"/>
                <a:gridCol w="1390650"/>
                <a:gridCol w="704850"/>
                <a:gridCol w="485775"/>
                <a:gridCol w="1571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SIGLA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HORA HH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DESARROLLO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6:0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$ 1.875.000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1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$ 6.811.520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2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$ 4.939.416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3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4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$ 439.088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5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6:0"/>
                      </a:ext>
                    </a:extLst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FASE DESARROLLO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6:1"/>
                      </a:ext>
                    </a:extLst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$ 14.065.024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6:6:5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77" name="Google Shape;177;p11"/>
          <p:cNvGraphicFramePr/>
          <p:nvPr/>
        </p:nvGraphicFramePr>
        <p:xfrm>
          <a:off x="6229350" y="403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419100"/>
                <a:gridCol w="1390650"/>
                <a:gridCol w="1390650"/>
                <a:gridCol w="704850"/>
                <a:gridCol w="485775"/>
                <a:gridCol w="1571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SIGLA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HORA HH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PRUEBAS 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7:0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$ 225.000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1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$ 308.280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2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$ 478.008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3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$ 744.192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4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-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5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6:0"/>
                      </a:ext>
                    </a:extLst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FASE PRUEBAS 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6:1"/>
                      </a:ext>
                    </a:extLst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$ 1.755.480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7:6:5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78" name="Google Shape;178;p11"/>
          <p:cNvGraphicFramePr/>
          <p:nvPr/>
        </p:nvGraphicFramePr>
        <p:xfrm>
          <a:off x="3114675" y="20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419100"/>
                <a:gridCol w="1390650"/>
                <a:gridCol w="1390650"/>
                <a:gridCol w="704850"/>
                <a:gridCol w="485775"/>
                <a:gridCol w="1571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SIGLA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HORA HH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IMPLEMENTACION Y CIERRE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78:0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$ 425.000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$ 440.400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$ 478.008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$ 437.760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$ 67.552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5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0"/>
                      </a:ext>
                    </a:extLst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FASE IMPLEMENTACION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1"/>
                      </a:ext>
                    </a:extLst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$ 1.848.720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c6136932_0_16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g3f8c6136932_0_16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g3f8c6136932_0_16"/>
          <p:cNvSpPr txBox="1"/>
          <p:nvPr>
            <p:ph type="title"/>
          </p:nvPr>
        </p:nvSpPr>
        <p:spPr>
          <a:xfrm>
            <a:off x="-8" y="-3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326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86" name="Google Shape;186;g3f8c6136932_0_16"/>
          <p:cNvGraphicFramePr/>
          <p:nvPr/>
        </p:nvGraphicFramePr>
        <p:xfrm>
          <a:off x="0" y="116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2066925"/>
                <a:gridCol w="1419225"/>
                <a:gridCol w="1057275"/>
                <a:gridCol w="1009650"/>
              </a:tblGrid>
              <a:tr h="18097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POR HORA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6:0:0"/>
                      </a:ext>
                    </a:extLst>
                  </a:tcPr>
                </a:tc>
                <a:tc hMerge="1"/>
                <a:tc hMerge="1"/>
                <a:tc hMerge="1"/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x HORA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Sueldo mes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6:1:3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Luis Gonzalez Palma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$ 2.250.000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3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Javier Rodriguez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$ 7.340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$ 1.321.205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3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Guerrero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$ 13.278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$ 2.390.000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3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Allison Rubio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$ 1.970.000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3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Sebastian Rojas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$ 1.520.000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7" name="Google Shape;187;g3f8c6136932_0_16"/>
          <p:cNvGraphicFramePr/>
          <p:nvPr/>
        </p:nvGraphicFramePr>
        <p:xfrm>
          <a:off x="7643300" y="115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2066925"/>
                <a:gridCol w="1419225"/>
              </a:tblGrid>
              <a:tr h="1809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HH POR 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7:0:0"/>
                      </a:ext>
                    </a:extLst>
                  </a:tcPr>
                </a:tc>
                <a:tc hMerge="1"/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Jefe de Proyecto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$ 3.012.500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1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 Programador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$ 8.455.680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2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BD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$ 5.895.432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3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Y Testing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$ 1.181.952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4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$ 1.013.280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5:1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cellId="187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$ 19.558.844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cellId="187:6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8" name="Google Shape;188;g3f8c6136932_0_16"/>
          <p:cNvGraphicFramePr/>
          <p:nvPr/>
        </p:nvGraphicFramePr>
        <p:xfrm>
          <a:off x="0" y="422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2066925"/>
                <a:gridCol w="1419225"/>
              </a:tblGrid>
              <a:tr h="1809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POR FASE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8:0:0"/>
                      </a:ext>
                    </a:extLst>
                  </a:tcPr>
                </a:tc>
                <a:tc hMerge="1"/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$ 514.820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$ 1.374.800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2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$ 14.065.024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3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$ 1.755.480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4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$ 1.848.720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5:1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cellId="18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$ 19.558.844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cellId="188:6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9" name="Google Shape;189;g3f8c6136932_0_16"/>
          <p:cNvGraphicFramePr/>
          <p:nvPr/>
        </p:nvGraphicFramePr>
        <p:xfrm>
          <a:off x="7643300" y="422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{992BE8F6-8153-4FCF-8D6C-39F25375BA5F}</a:tableStyleId>
              </a:tblPr>
              <a:tblGrid>
                <a:gridCol w="2066925"/>
                <a:gridCol w="1419225"/>
              </a:tblGrid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cellId="18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0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UTILIDAD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$ 11.735.306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:1"/>
                      </a:ext>
                    </a:extLst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 FINAL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$ 31.294.150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:1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2" y="1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326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913212" y="1262693"/>
            <a:ext cx="1036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desarrollo de VetMap, la aplicación móvil se construirá con React Native o Flutter, permitiendo generar una versión para Android e iOS desde un mismo código. Las plataformas web (tiendas, clínicas y panel administrativo) se desarrollarán con React.js o Angular, apoyadas en TailwindCSS o Bootstrap para lograr interfaces responsivas.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backend se implementará con Node.js (Express) o Python (Django/FastAPI), encargado de la lógica del sistema y de los algoritmos de alertas. Los datos se almacenarán en PostgreSQL, mientras que Firebase y WebSockets se usarán para la geolocalización en tiempo real de los repartidores y el envío de notificaciones push.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herramientas de apoyo, el equipo utiliza VS Code para programar, Figma para el diseño de interfaces, GitHub para el control de versiones, Jira o Trello para la gestión de tareas, y AWS o Google Cloud para el despliegue de la plataforma.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64458" y="-4"/>
            <a:ext cx="10515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3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Conclusión  </a:t>
            </a:r>
            <a:endParaRPr b="1" sz="3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839487" y="1262743"/>
            <a:ext cx="1036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VetMap responde a un problema real: la falta de una plataforma que centralice el cuidado de mascotas, hoy disperso entre distintas apps, tiendas y clínicas. A partir de esto se definieron objetivos claros, el alcance del sistema, sus usuarios y los requerimientos que debe cumplir, validados mediante mockups en Figma.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tecnología definida confirma que el proyecto es viable de desarrollar en el tiempo disponible, mientras que la carta Gantt, los hitos y el costeo por fase muestran una planificación ordenada y realista del trabajo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conjunto, VetMap es un proyecto pertinente y factible, que permite al equipo aplicar de forma integrada las competencias adquiridas durante la carrera: análisis, diseño, desarrollo y gestión de proyectos.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c6136932_0_103"/>
          <p:cNvSpPr/>
          <p:nvPr/>
        </p:nvSpPr>
        <p:spPr>
          <a:xfrm>
            <a:off x="11216700" y="283375"/>
            <a:ext cx="9753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g3f8c6136932_0_103"/>
          <p:cNvSpPr/>
          <p:nvPr/>
        </p:nvSpPr>
        <p:spPr>
          <a:xfrm>
            <a:off x="0" y="0"/>
            <a:ext cx="12192000" cy="148800"/>
          </a:xfrm>
          <a:prstGeom prst="roundRect">
            <a:avLst>
              <a:gd fmla="val 16667" name="adj"/>
            </a:avLst>
          </a:prstGeom>
          <a:solidFill>
            <a:srgbClr val="85A6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g3f8c6136932_0_103"/>
          <p:cNvSpPr txBox="1"/>
          <p:nvPr>
            <p:ph type="title"/>
          </p:nvPr>
        </p:nvSpPr>
        <p:spPr>
          <a:xfrm>
            <a:off x="0" y="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Anexos</a:t>
            </a:r>
            <a:endParaRPr/>
          </a:p>
        </p:txBody>
      </p:sp>
      <p:sp>
        <p:nvSpPr>
          <p:cNvPr id="213" name="Google Shape;213;g3f8c6136932_0_103"/>
          <p:cNvSpPr txBox="1"/>
          <p:nvPr/>
        </p:nvSpPr>
        <p:spPr>
          <a:xfrm>
            <a:off x="902650" y="1743025"/>
            <a:ext cx="6750900" cy="34947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Acta de Proyecto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Acta de constitución.docx - Documentos de Google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Especificación de Requerimientos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Planilla de Requerimientos.xlsx - Hojas de cálculo de Google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Prototipado de Software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Documento Mockups.docx - Documentos de Google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EDT. Planilla Detallada Cálculo de Esfuerzo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EDT.xlsx - Hojas de cálculo de Google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Planilla Carta Gantt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Carta Gantt.xlsx - Hojas de cálculo de Google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L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Documento Caso Uso Extendido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2D4152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